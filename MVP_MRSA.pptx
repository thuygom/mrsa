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73" r:id="rId7"/>
    <p:sldId id="281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48"/>
    <p:restoredTop sz="94607"/>
  </p:normalViewPr>
  <p:slideViewPr>
    <p:cSldViewPr snapToGrid="0">
      <p:cViewPr varScale="1">
        <p:scale>
          <a:sx n="108" d="100"/>
          <a:sy n="108" d="100"/>
        </p:scale>
        <p:origin x="1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1501950" y="1882817"/>
            <a:ext cx="9188100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스마트 제조 </a:t>
            </a:r>
            <a:r>
              <a:rPr lang="en-US" altLang="ko-KR" sz="3600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AI Agent </a:t>
            </a:r>
            <a:r>
              <a:rPr lang="ko-KR" altLang="en-US" sz="3600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r>
              <a:rPr lang="ko-KR" altLang="en-US" sz="3600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</a:t>
            </a:r>
            <a:r>
              <a:rPr lang="en-US" altLang="ko-KR" sz="3600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2025</a:t>
            </a:r>
            <a:endParaRPr lang="en-US" altLang="ko-KR" sz="36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3805456239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반달곰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김정훈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124467"/>
              </p:ext>
            </p:extLst>
          </p:nvPr>
        </p:nvGraphicFramePr>
        <p:xfrm>
          <a:off x="744427" y="1145754"/>
          <a:ext cx="10776155" cy="4805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11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반달곰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11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김정훈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11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Manufacturing RAG-SQL Agent(MRSA)</a:t>
                      </a:r>
                      <a:endParaRPr lang="ko-KR" altLang="en-US" sz="1400" i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11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세부 주제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MRSA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는 문서 기반 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RAG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SQL 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기반 제조 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RDB 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조회를 하나의 흐름으로 통합해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제조 지식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절차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기준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과 실제 공정 데이터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(LOT·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불량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설비 상태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를 동시에 제공한다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문서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라벨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수기 기록까지 처리 가능한 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OCR 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파이프라인을 포함해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문서 외 정보까지 정확하게 </a:t>
                      </a:r>
                      <a:r>
                        <a:rPr lang="ko-KR" altLang="en-US" i="0" dirty="0" err="1">
                          <a:solidFill>
                            <a:schemeClr val="tx1"/>
                          </a:solidFill>
                        </a:rPr>
                        <a:t>구조화한다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i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또한 자동 보정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재확인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(Adaptive Correction Loop)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을 통해 모호한 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OCR·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질의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데이터 매핑을 스스로 조정해 현장의 수작업 개입을 최소화한다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i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11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제조 문서의 지식과 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RDB</a:t>
                      </a:r>
                      <a:r>
                        <a:rPr lang="ko-KR" altLang="en-US" i="0" dirty="0">
                          <a:solidFill>
                            <a:schemeClr val="tx1"/>
                          </a:solidFill>
                        </a:rPr>
                        <a:t>의 실데이터를 한 번에 이해하고 판단하는 제조 전용 지능형 에이전트</a:t>
                      </a:r>
                      <a:r>
                        <a:rPr lang="en-US" altLang="ko-KR" i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i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4C2E8235-19C7-F4A2-521E-8B764CF39526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A68318B3-A6F8-FF5F-1084-F15C84670967}"/>
              </a:ext>
            </a:extLst>
          </p:cNvPr>
          <p:cNvSpPr txBox="1"/>
          <p:nvPr/>
        </p:nvSpPr>
        <p:spPr>
          <a:xfrm>
            <a:off x="9566787" y="229867"/>
            <a:ext cx="22534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제조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B2B10690-B5F8-6D7C-6F9C-ACBA087691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112DF695-8E09-C2E4-18B1-6E349FAA2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968477" y="1957157"/>
            <a:ext cx="10255044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제조 현장의 실제 문제</a:t>
            </a:r>
          </a:p>
          <a:p>
            <a:r>
              <a:rPr lang="ko-KR" altLang="en-US" dirty="0"/>
              <a:t>문서는 비정형</a:t>
            </a:r>
            <a:r>
              <a:rPr lang="en-US" altLang="ko-KR" dirty="0"/>
              <a:t>(RAG </a:t>
            </a:r>
            <a:r>
              <a:rPr lang="ko-KR" altLang="en-US" dirty="0"/>
              <a:t>필요</a:t>
            </a:r>
            <a:r>
              <a:rPr lang="en-US" altLang="ko-KR" dirty="0"/>
              <a:t>), </a:t>
            </a:r>
            <a:r>
              <a:rPr lang="ko-KR" altLang="en-US" dirty="0"/>
              <a:t>공정 데이터는 </a:t>
            </a:r>
            <a:r>
              <a:rPr lang="en-US" altLang="ko-KR" dirty="0"/>
              <a:t>RDB(SQL </a:t>
            </a:r>
            <a:r>
              <a:rPr lang="ko-KR" altLang="en-US" dirty="0"/>
              <a:t>필요</a:t>
            </a:r>
            <a:r>
              <a:rPr lang="en-US" altLang="ko-KR" dirty="0"/>
              <a:t>)</a:t>
            </a:r>
            <a:r>
              <a:rPr lang="ko-KR" altLang="en-US" dirty="0"/>
              <a:t>로 분리되어 있어 기준 확인과 데이터 조회를 함께 처리하기 어렵다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현장에서는 두 정보를 매번 수작업으로 결합해야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해결해야 하는 대상</a:t>
            </a:r>
          </a:p>
          <a:p>
            <a:r>
              <a:rPr lang="ko-KR" altLang="en-US" dirty="0"/>
              <a:t>문서의 기준</a:t>
            </a:r>
            <a:r>
              <a:rPr lang="en-US" altLang="ko-KR" dirty="0"/>
              <a:t>·</a:t>
            </a:r>
            <a:r>
              <a:rPr lang="ko-KR" altLang="en-US" dirty="0"/>
              <a:t>절차와 </a:t>
            </a:r>
            <a:r>
              <a:rPr lang="en-US" altLang="ko-KR" dirty="0"/>
              <a:t>RDB</a:t>
            </a:r>
            <a:r>
              <a:rPr lang="ko-KR" altLang="en-US" dirty="0"/>
              <a:t>의 </a:t>
            </a:r>
            <a:r>
              <a:rPr lang="en-US" altLang="ko-KR" dirty="0"/>
              <a:t>LOT·</a:t>
            </a:r>
            <a:r>
              <a:rPr lang="ko-KR" altLang="en-US" dirty="0"/>
              <a:t>불량</a:t>
            </a:r>
            <a:r>
              <a:rPr lang="en-US" altLang="ko-KR" dirty="0"/>
              <a:t>·</a:t>
            </a:r>
            <a:r>
              <a:rPr lang="ko-KR" altLang="en-US" dirty="0"/>
              <a:t>측정값을 하나의 흐름으로 연결하고</a:t>
            </a:r>
            <a:r>
              <a:rPr lang="en-US" altLang="ko-KR" dirty="0"/>
              <a:t>, </a:t>
            </a:r>
            <a:r>
              <a:rPr lang="ko-KR" altLang="en-US" dirty="0"/>
              <a:t>문서 내부에 실무자가 작성한 </a:t>
            </a:r>
            <a:r>
              <a:rPr lang="ko-KR" altLang="en-US" dirty="0" err="1"/>
              <a:t>손글씨</a:t>
            </a:r>
            <a:r>
              <a:rPr lang="en-US" altLang="ko-KR" dirty="0"/>
              <a:t>·</a:t>
            </a:r>
            <a:r>
              <a:rPr lang="ko-KR" altLang="en-US" dirty="0"/>
              <a:t>라벨 같은 비정형 데이터를 자동으로 인식해야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문제의 중요성</a:t>
            </a:r>
            <a:r>
              <a:rPr lang="en-US" altLang="ko-KR" b="1" dirty="0"/>
              <a:t>/</a:t>
            </a:r>
            <a:r>
              <a:rPr lang="ko-KR" altLang="en-US" b="1" dirty="0"/>
              <a:t>발생 배경</a:t>
            </a:r>
          </a:p>
          <a:p>
            <a:r>
              <a:rPr lang="ko-KR" altLang="en-US" dirty="0"/>
              <a:t>기준은 문서에</a:t>
            </a:r>
            <a:r>
              <a:rPr lang="en-US" altLang="ko-KR" dirty="0"/>
              <a:t>, </a:t>
            </a:r>
            <a:r>
              <a:rPr lang="ko-KR" altLang="en-US" dirty="0"/>
              <a:t>실제 값은 </a:t>
            </a:r>
            <a:r>
              <a:rPr lang="en-US" altLang="ko-KR" dirty="0"/>
              <a:t>RDB</a:t>
            </a:r>
            <a:r>
              <a:rPr lang="ko-KR" altLang="en-US" dirty="0"/>
              <a:t>에 있어 정합성 판단이 늦고 사람마다 결과가 달라진다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이로 인해 이상 징후 대응이 지연되고 품질 리스크가 증가한다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4. KPI </a:t>
            </a:r>
            <a:r>
              <a:rPr lang="ko-KR" altLang="en-US" b="1" dirty="0"/>
              <a:t>및 기대 효과</a:t>
            </a:r>
          </a:p>
          <a:p>
            <a:r>
              <a:rPr lang="ko-KR" altLang="en-US" dirty="0"/>
              <a:t>문서</a:t>
            </a:r>
            <a:r>
              <a:rPr lang="en-US" altLang="ko-KR" dirty="0"/>
              <a:t>+RDB </a:t>
            </a:r>
            <a:r>
              <a:rPr lang="ko-KR" altLang="en-US" dirty="0"/>
              <a:t>조회 및 판단 시간 단축</a:t>
            </a:r>
            <a:r>
              <a:rPr lang="en-US" altLang="ko-KR" dirty="0"/>
              <a:t>, </a:t>
            </a:r>
            <a:r>
              <a:rPr lang="ko-KR" altLang="en-US" dirty="0"/>
              <a:t>자동화율 증가</a:t>
            </a:r>
            <a:r>
              <a:rPr lang="en-US" altLang="ko-KR" dirty="0"/>
              <a:t>, </a:t>
            </a:r>
            <a:r>
              <a:rPr lang="ko-KR" altLang="en-US" dirty="0"/>
              <a:t>판단 일관성 확보</a:t>
            </a:r>
            <a:r>
              <a:rPr lang="en-US" altLang="ko-KR" dirty="0"/>
              <a:t>, </a:t>
            </a:r>
            <a:r>
              <a:rPr lang="ko-KR" altLang="en-US" dirty="0"/>
              <a:t>이상 감지 시간 단축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품질 안정성과 생산 효율이 전체적으로 향상된다</a:t>
            </a:r>
            <a:r>
              <a:rPr lang="en-US" altLang="ko-KR" dirty="0"/>
              <a:t>.</a:t>
            </a:r>
          </a:p>
          <a:p>
            <a:endParaRPr lang="en-US" altLang="ko-KR" i="1" dirty="0">
              <a:solidFill>
                <a:srgbClr val="3C7CDE"/>
              </a:solidFill>
            </a:endParaRP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9566787" y="229867"/>
            <a:ext cx="22534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제조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 - </a:t>
            </a:r>
            <a:r>
              <a:rPr lang="ko-KR" altLang="en-US" b="1" dirty="0">
                <a:solidFill>
                  <a:srgbClr val="3C7CDE"/>
                </a:solidFill>
              </a:rPr>
              <a:t>해당 부분은 참고용 안내 문구이며 제거하여도 좋습니다</a:t>
            </a:r>
            <a:r>
              <a:rPr lang="en-US" altLang="ko-KR" b="1" dirty="0">
                <a:solidFill>
                  <a:srgbClr val="3C7CDE"/>
                </a:solidFill>
              </a:rPr>
              <a:t>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제안하는 </a:t>
            </a:r>
            <a:r>
              <a:rPr lang="en-US" altLang="ko-KR" i="1" kern="1200" dirty="0">
                <a:solidFill>
                  <a:srgbClr val="3C7CDE"/>
                </a:solidFill>
                <a:latin typeface="맑은 고딕" panose="02110004020202020204"/>
              </a:rPr>
              <a:t>AI Agent </a:t>
            </a: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시스템의 전체 구조</a:t>
            </a:r>
            <a:endParaRPr lang="en-US" altLang="ko-KR" i="1" kern="1200" dirty="0">
              <a:solidFill>
                <a:srgbClr val="3C7CDE"/>
              </a:solidFill>
              <a:latin typeface="맑은 고딕" panose="02110004020202020204"/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에이전트 구성</a:t>
            </a:r>
            <a:endParaRPr lang="en-US" altLang="ko-KR" i="1" kern="1200" dirty="0">
              <a:solidFill>
                <a:srgbClr val="3C7CDE"/>
              </a:solidFill>
              <a:latin typeface="맑은 고딕" panose="02110004020202020204"/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에이전트 별 역할 및 상호작용 방식</a:t>
            </a:r>
            <a:endParaRPr lang="en-US" altLang="ko-KR" i="1" kern="1200" dirty="0">
              <a:solidFill>
                <a:srgbClr val="3C7CDE"/>
              </a:solidFill>
              <a:latin typeface="맑은 고딕" panose="02110004020202020204"/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전체 시나리오 요약 등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5DA041A2-5845-A7CD-5181-331343C2DAD7}"/>
              </a:ext>
            </a:extLst>
          </p:cNvPr>
          <p:cNvSpPr txBox="1"/>
          <p:nvPr/>
        </p:nvSpPr>
        <p:spPr>
          <a:xfrm>
            <a:off x="9566787" y="229867"/>
            <a:ext cx="22534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제조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  <a:r>
              <a:rPr lang="en-US" altLang="ko-KR" b="1" dirty="0">
                <a:solidFill>
                  <a:srgbClr val="3C7CDE"/>
                </a:solidFill>
              </a:rPr>
              <a:t> - </a:t>
            </a:r>
            <a:r>
              <a:rPr lang="ko-KR" altLang="en-US" b="1" dirty="0">
                <a:solidFill>
                  <a:srgbClr val="3C7CDE"/>
                </a:solidFill>
              </a:rPr>
              <a:t>해당 부분은 참고용 안내 문구이며 제거하여도 좋습니다</a:t>
            </a:r>
            <a:r>
              <a:rPr lang="en-US" altLang="ko-KR" b="1" dirty="0">
                <a:solidFill>
                  <a:srgbClr val="3C7CDE"/>
                </a:solidFill>
              </a:rPr>
              <a:t>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솔루션이 제공할 주요 기능들</a:t>
            </a:r>
            <a:endParaRPr lang="en-US" altLang="ko-KR" i="1" kern="1200" dirty="0">
              <a:solidFill>
                <a:srgbClr val="3C7CDE"/>
              </a:solidFill>
              <a:latin typeface="맑은 고딕" panose="02110004020202020204"/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각 기능이 해결하는 업무</a:t>
            </a:r>
            <a:r>
              <a:rPr lang="en-US" altLang="ko-KR" i="1" kern="1200" dirty="0">
                <a:solidFill>
                  <a:srgbClr val="3C7CDE"/>
                </a:solidFill>
                <a:latin typeface="맑은 고딕" panose="02110004020202020204"/>
              </a:rPr>
              <a:t>/</a:t>
            </a: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문제</a:t>
            </a:r>
            <a:endParaRPr lang="en-US" altLang="ko-KR" i="1" kern="1200" dirty="0">
              <a:solidFill>
                <a:srgbClr val="3C7CDE"/>
              </a:solidFill>
              <a:latin typeface="맑은 고딕" panose="02110004020202020204"/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본선에서 </a:t>
            </a:r>
            <a:r>
              <a:rPr lang="en-US" altLang="ko-KR" i="1" kern="1200" dirty="0">
                <a:solidFill>
                  <a:srgbClr val="3C7CDE"/>
                </a:solidFill>
                <a:latin typeface="맑은 고딕" panose="02110004020202020204"/>
              </a:rPr>
              <a:t>MVP</a:t>
            </a: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로 구현할 핵심 기능 명확화 등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E45318F0-745D-DF15-A08D-9884C72CC87D}"/>
              </a:ext>
            </a:extLst>
          </p:cNvPr>
          <p:cNvSpPr txBox="1"/>
          <p:nvPr/>
        </p:nvSpPr>
        <p:spPr>
          <a:xfrm>
            <a:off x="9566787" y="229867"/>
            <a:ext cx="22534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제조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  <a:r>
              <a:rPr lang="en-US" altLang="ko-KR" b="1" dirty="0">
                <a:solidFill>
                  <a:srgbClr val="3C7CDE"/>
                </a:solidFill>
              </a:rPr>
              <a:t>  - </a:t>
            </a:r>
            <a:r>
              <a:rPr lang="ko-KR" altLang="en-US" b="1" dirty="0">
                <a:solidFill>
                  <a:srgbClr val="3C7CDE"/>
                </a:solidFill>
              </a:rPr>
              <a:t>해당 부분은 참고용 안내 문구이며 제거하여도 좋습니다</a:t>
            </a:r>
            <a:r>
              <a:rPr lang="en-US" altLang="ko-KR" b="1" dirty="0">
                <a:solidFill>
                  <a:srgbClr val="3C7CDE"/>
                </a:solidFill>
              </a:rPr>
              <a:t>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활용할 데이터 종류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예상되는 데이터 처리 방식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활용하려는 모델</a:t>
            </a:r>
            <a:r>
              <a:rPr lang="en-US" altLang="ko-KR" i="1" dirty="0">
                <a:solidFill>
                  <a:srgbClr val="3C7CDE"/>
                </a:solidFill>
              </a:rPr>
              <a:t>/</a:t>
            </a:r>
            <a:r>
              <a:rPr lang="ko-KR" altLang="en-US" i="1" dirty="0">
                <a:solidFill>
                  <a:srgbClr val="3C7CDE"/>
                </a:solidFill>
              </a:rPr>
              <a:t>라이브러리</a:t>
            </a:r>
            <a:r>
              <a:rPr lang="en-US" altLang="ko-KR" i="1" dirty="0">
                <a:solidFill>
                  <a:srgbClr val="3C7CDE"/>
                </a:solidFill>
              </a:rPr>
              <a:t>/</a:t>
            </a:r>
            <a:r>
              <a:rPr lang="ko-KR" altLang="en-US" i="1" dirty="0">
                <a:solidFill>
                  <a:srgbClr val="3C7CDE"/>
                </a:solidFill>
              </a:rPr>
              <a:t>도구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기술적 제약 및 해결 전략 등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795D1071-0265-A110-ED60-E835F57DD3C4}"/>
              </a:ext>
            </a:extLst>
          </p:cNvPr>
          <p:cNvSpPr txBox="1"/>
          <p:nvPr/>
        </p:nvSpPr>
        <p:spPr>
          <a:xfrm>
            <a:off x="9566787" y="229867"/>
            <a:ext cx="22534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제조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  <a:r>
              <a:rPr lang="en-US" altLang="ko-KR" b="1" dirty="0">
                <a:solidFill>
                  <a:srgbClr val="3C7CDE"/>
                </a:solidFill>
              </a:rPr>
              <a:t>  - </a:t>
            </a:r>
            <a:r>
              <a:rPr lang="ko-KR" altLang="en-US" b="1" dirty="0">
                <a:solidFill>
                  <a:srgbClr val="3C7CDE"/>
                </a:solidFill>
              </a:rPr>
              <a:t>해당 부분은 참고용 안내 문구이며 제거하여도 좋습니다</a:t>
            </a:r>
            <a:r>
              <a:rPr lang="en-US" altLang="ko-KR" b="1" dirty="0">
                <a:solidFill>
                  <a:srgbClr val="3C7CDE"/>
                </a:solidFill>
              </a:rPr>
              <a:t>.</a:t>
            </a: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주요 사용자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사용자 행동 흐름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에이전트 간 협업이 드러나는 대표 시나리오</a:t>
            </a:r>
            <a:r>
              <a:rPr lang="en-US" altLang="ko-KR" i="1" dirty="0">
                <a:solidFill>
                  <a:srgbClr val="3C7CDE"/>
                </a:solidFill>
              </a:rPr>
              <a:t> </a:t>
            </a:r>
            <a:r>
              <a:rPr lang="ko-KR" altLang="en-US" i="1" dirty="0">
                <a:solidFill>
                  <a:srgbClr val="3C7CDE"/>
                </a:solidFill>
              </a:rPr>
              <a:t>등</a:t>
            </a:r>
            <a:endParaRPr lang="en-US" altLang="ko-KR" i="1" dirty="0">
              <a:solidFill>
                <a:srgbClr val="3C7CD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Google Shape;100;p2">
            <a:extLst>
              <a:ext uri="{FF2B5EF4-FFF2-40B4-BE49-F238E27FC236}">
                <a16:creationId xmlns:a16="http://schemas.microsoft.com/office/drawing/2014/main" id="{B0792BC1-B02A-ABDA-3F2F-A151B5DBC4B5}"/>
              </a:ext>
            </a:extLst>
          </p:cNvPr>
          <p:cNvSpPr txBox="1"/>
          <p:nvPr/>
        </p:nvSpPr>
        <p:spPr>
          <a:xfrm>
            <a:off x="9566787" y="229867"/>
            <a:ext cx="22534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제조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 - </a:t>
            </a:r>
            <a:r>
              <a:rPr lang="ko-KR" altLang="en-US" b="1" dirty="0">
                <a:solidFill>
                  <a:srgbClr val="3C7CDE"/>
                </a:solidFill>
              </a:rPr>
              <a:t>해당 부분은 참고용 안내 문구이며 제거하여도 좋습니다</a:t>
            </a:r>
            <a:r>
              <a:rPr lang="en-US" altLang="ko-KR" b="1" dirty="0">
                <a:solidFill>
                  <a:srgbClr val="3C7CDE"/>
                </a:solidFill>
              </a:rPr>
              <a:t>.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제조 현장에서 기대되는 정량</a:t>
            </a:r>
            <a:r>
              <a:rPr lang="en-US" altLang="ko-KR" i="1" dirty="0">
                <a:solidFill>
                  <a:srgbClr val="3C7CDE"/>
                </a:solidFill>
              </a:rPr>
              <a:t> </a:t>
            </a:r>
            <a:r>
              <a:rPr lang="ko-KR" altLang="en-US" i="1" dirty="0">
                <a:solidFill>
                  <a:srgbClr val="3C7CDE"/>
                </a:solidFill>
              </a:rPr>
              <a:t>또는 정성 효과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공정</a:t>
            </a:r>
            <a:r>
              <a:rPr lang="en-US" altLang="ko-KR" i="1" dirty="0">
                <a:solidFill>
                  <a:srgbClr val="3C7CDE"/>
                </a:solidFill>
              </a:rPr>
              <a:t>/</a:t>
            </a:r>
            <a:r>
              <a:rPr lang="ko-KR" altLang="en-US" i="1" dirty="0">
                <a:solidFill>
                  <a:srgbClr val="3C7CDE"/>
                </a:solidFill>
              </a:rPr>
              <a:t>업무 확장 가능성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향후 고도화 가능성 등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299F9AD7-8A7C-EF36-501B-0164397E4D62}"/>
              </a:ext>
            </a:extLst>
          </p:cNvPr>
          <p:cNvSpPr txBox="1"/>
          <p:nvPr/>
        </p:nvSpPr>
        <p:spPr>
          <a:xfrm>
            <a:off x="9566787" y="229867"/>
            <a:ext cx="22534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제조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597</Words>
  <Application>Microsoft Office PowerPoint</Application>
  <PresentationFormat>와이드스크린</PresentationFormat>
  <Paragraphs>75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맑은 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Dacon io</dc:creator>
  <cp:lastModifiedBy>김정훈</cp:lastModifiedBy>
  <cp:revision>78</cp:revision>
  <dcterms:created xsi:type="dcterms:W3CDTF">2024-05-21T00:00:56Z</dcterms:created>
  <dcterms:modified xsi:type="dcterms:W3CDTF">2025-12-05T02:14:51Z</dcterms:modified>
</cp:coreProperties>
</file>